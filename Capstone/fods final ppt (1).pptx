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1" r:id="rId2"/>
    <p:sldId id="257" r:id="rId3"/>
    <p:sldId id="279" r:id="rId4"/>
    <p:sldId id="258" r:id="rId5"/>
    <p:sldId id="259" r:id="rId6"/>
    <p:sldId id="260" r:id="rId7"/>
    <p:sldId id="277" r:id="rId8"/>
    <p:sldId id="272" r:id="rId9"/>
    <p:sldId id="273" r:id="rId10"/>
    <p:sldId id="274" r:id="rId11"/>
    <p:sldId id="276" r:id="rId12"/>
    <p:sldId id="292" r:id="rId13"/>
    <p:sldId id="278" r:id="rId14"/>
    <p:sldId id="269" r:id="rId15"/>
    <p:sldId id="270" r:id="rId16"/>
    <p:sldId id="281" r:id="rId17"/>
    <p:sldId id="280" r:id="rId18"/>
    <p:sldId id="29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64F"/>
    <a:srgbClr val="0003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04EA1-A771-487A-BC75-35BC577C9C5E}" v="19" dt="2026-09-02T13:05:15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42" autoAdjust="0"/>
  </p:normalViewPr>
  <p:slideViewPr>
    <p:cSldViewPr snapToGrid="0">
      <p:cViewPr varScale="1">
        <p:scale>
          <a:sx n="77" d="100"/>
          <a:sy n="77" d="100"/>
        </p:scale>
        <p:origin x="91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B9BEB-E44A-4CF6-B2BE-753E60E1D3B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2AFE8-F8E5-4705-BA86-59CA96F87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15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3A239A7-2BFE-59D9-62D4-D34B3727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>
            <a:extLst>
              <a:ext uri="{FF2B5EF4-FFF2-40B4-BE49-F238E27FC236}">
                <a16:creationId xmlns:a16="http://schemas.microsoft.com/office/drawing/2014/main" id="{36782AEE-DE3A-3108-DCB4-862EF0CE9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5" name="Google Shape;185;g366dfe6d782_0_138:notes">
            <a:extLst>
              <a:ext uri="{FF2B5EF4-FFF2-40B4-BE49-F238E27FC236}">
                <a16:creationId xmlns:a16="http://schemas.microsoft.com/office/drawing/2014/main" id="{6A9452C0-1446-370F-639C-955DB882C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010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F9A3-31B1-7285-CC89-B75883B0D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B2557-352E-31FF-F5BE-73F9CA9B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D9563-2D22-D521-0993-8F1AE14C9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F39C4-78A7-D5E6-4906-E96666AD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4863E-12A0-77F0-69DB-2ED088C3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35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ADFC2-2483-0918-86C1-0417F28F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E0F1E-D53C-B6DD-728B-624F90E5D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DB920-C50B-FE30-DF2C-B7214C45C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5E76C-8C78-2D55-FB66-3474154C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ED1DC-F193-9712-79EA-99DCAA9D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04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3A86-81D2-F0CF-D9AF-79039470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E5748-C131-79E8-C9E1-FAEBA1C34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AC7C3-59C6-C54E-9BE3-D1959CC5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E807E-EB25-5E15-38A6-9541308B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70019-2B77-F957-1742-27AE2F524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00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CF139-FBA7-BB3F-07C7-A5955EC8B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500B2-6B6C-CE86-339D-667B6EFCA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08D10-4FBE-D901-1A32-65A90404D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ADCA8-3585-2ACC-ABF8-BCBA0EB9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13C64-C97D-E41D-F203-ECDCA7C6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FA663-1904-48C8-92C9-2BC9430A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50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9F21-022C-DED3-CBC4-6F01D2D2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AFDBD-2533-C8C2-6429-C54E41D5B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37C03-8E01-9B90-8B39-7482E57FC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0BC70-7E37-AE14-B574-36D0BD6D7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9AF5B8-C419-9FA0-12FE-53D16556F1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D6C54-34B3-F626-AF28-0818054C6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0A38BC-FA90-EE68-9C5A-EA3B3030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619CF-8F36-91D3-0F5A-B0E66129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99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29FCF-676E-E60C-DE12-4A2AA330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7570E8-1173-9CD7-0516-E6D309F9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0787F-F62D-5AC1-9371-7DD50B7E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8B2B3-949B-6DAB-41A8-A13FEAC9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934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FE4F61-7381-A199-A2B8-D54AA543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A517B-CADB-97D6-F100-14B5CE8C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187F5-A0FF-594D-18D5-79B5002B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09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D2D3C-33AA-8024-941B-78AECC50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4DECF-DBE6-3BCE-E7B4-3D00A03C3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71B04-9A26-BC5D-2BB0-C55676175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6F635-AFA5-8A99-BDD6-37C9AFA5E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E3340-3715-63FB-A667-15A068F27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DFC24-DC81-E15E-49E7-D8945858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076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BD75-775B-61B7-67F1-CC4AAFA8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60335-AF47-65CA-02FC-0D2F6B4F0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10220-C7BF-AD27-D53F-B2FF30BB8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A2664-8A77-74D2-C4D7-462B26B64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13CC6-74E2-0646-3B7C-D4FD278AE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6F7A8-AF8D-C5D6-E6B6-B5566327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92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26AE-2D00-32F8-2B6D-1A559118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8159-72C7-B4EF-6553-6DA3072F6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9BEEF-ED21-13B8-B28F-B030D978A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78365-A105-18FA-A089-CD622E32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D1053-9CDE-B667-5845-88E01829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13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D15D3-2EA7-AE1E-18D7-8545C300E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EEA6B-E8D2-C425-BF7C-3D8F42360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F9F17-2E1B-323C-D9FA-B8C866BB7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8E26F-1585-0C2B-74AD-F6A8B11B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48A95-A307-8885-55B8-A755628F8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42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CE827A-2985-1B1E-580F-FB41C1FE2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10D8F-9B3F-99E4-7D4D-3C7B2BC49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CDD17-3FA1-83C0-8ED0-082438E7B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5BF2A-DD2E-4A6F-9549-D59E4B3B1B0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0DFBD-7EBE-92E5-1C64-05D914444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2118A-F96D-A049-9FDF-02BBB0C8F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02D69-49DD-4197-A04A-2A5F0580A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27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0C0379A-FDD7-C651-24E6-9A879A11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C2FDA0-6F14-95CC-C28D-AFB512F9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37" y="1204771"/>
            <a:ext cx="10874925" cy="31177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Statistical Analysis of Clinical and Lifestyle Indicators for Early Health Risk</a:t>
            </a:r>
            <a:b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DSA0405 – Fundamentals of Data Sciences</a:t>
            </a: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B50E4-CEB7-3CF8-588F-B289EDB0A5C1}"/>
              </a:ext>
            </a:extLst>
          </p:cNvPr>
          <p:cNvSpPr txBox="1"/>
          <p:nvPr/>
        </p:nvSpPr>
        <p:spPr>
          <a:xfrm>
            <a:off x="295676" y="4046869"/>
            <a:ext cx="5383527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GUIDED BY: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Krishna raj Mony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/ CSE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/>
                <a:cs typeface="Times New Roman"/>
              </a:rPr>
              <a:t>SIMATS ENGINEERING</a:t>
            </a:r>
          </a:p>
          <a:p>
            <a:r>
              <a:rPr lang="en-IN" sz="2400" dirty="0">
                <a:latin typeface="Times New Roman"/>
                <a:cs typeface="Times New Roman"/>
              </a:rPr>
              <a:t>CHENNAI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8CF37-E31A-6EEE-BC99-20F5D425A24A}"/>
              </a:ext>
            </a:extLst>
          </p:cNvPr>
          <p:cNvSpPr txBox="1"/>
          <p:nvPr/>
        </p:nvSpPr>
        <p:spPr>
          <a:xfrm>
            <a:off x="6133562" y="1610803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53227-A697-F3C3-46D2-424403263327}"/>
              </a:ext>
            </a:extLst>
          </p:cNvPr>
          <p:cNvSpPr txBox="1"/>
          <p:nvPr/>
        </p:nvSpPr>
        <p:spPr>
          <a:xfrm>
            <a:off x="7441252" y="4000041"/>
            <a:ext cx="5156168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PRESENTED BY: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Reddy Prasad (192472045)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.V. Raghavan (192424373)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Harshavardhan (192324189)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Vishaal M S (192424420)</a:t>
            </a:r>
          </a:p>
        </p:txBody>
      </p:sp>
    </p:spTree>
    <p:extLst>
      <p:ext uri="{BB962C8B-B14F-4D97-AF65-F5344CB8AC3E}">
        <p14:creationId xmlns:p14="http://schemas.microsoft.com/office/powerpoint/2010/main" val="19937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452C-B88C-1B28-B6D4-08BA21E55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DB53-9048-E26F-8E2E-798978776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-851658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70A44-DCF4-E8D6-96D3-F1D7ED8F3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858" y="1950347"/>
            <a:ext cx="11120284" cy="4380686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health risk prediction helps identify people who may develop health problems in the future.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conditions can be influenced by both clinical factors and lifestyle habits.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indicators include blood pressure, blood sugar, cholesterol, heart rate, and BMI.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indicators include physical activity, sleep, diet, smoking, and alcohol consumption.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can be used to study relationships and patterns among these factors.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helps identify important trends, unusual values, and risk factors in the dataset.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can help determine which indicators are strongly associated with health risks.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08FCED-5FFD-138F-4F58-C4CEFB91F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0" y="526967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A8A6E2-F107-D68D-5470-DF4C194D9E6C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00057E-64DC-6554-1BDD-CB7AABBD5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41" y="526967"/>
            <a:ext cx="1390844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9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5CECC-16C8-9743-E6B6-1A6A43638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499A-E6F3-C2CD-1BAF-60DFA1265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-851658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AD74D-4E54-2556-5384-D7D4836FB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857" y="1950347"/>
            <a:ext cx="11209103" cy="4380686"/>
          </a:xfrm>
        </p:spPr>
        <p:txBody>
          <a:bodyPr>
            <a:norm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risks are often identified only after symptoms become serious.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factors such as blood pressure, blood sugar, cholesterol, and BMI can indicate possible health risks.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factors such as diet, exercise, sleep, smoking, and alcohol consumption also affect health.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can help identify relationships, trends, and important risk factors.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explore these indicators and identify people with potential early health risks.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can support early intervention and preventive healthcare decisions.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577B22-0464-E442-11CB-2740DC135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0" y="526967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21DA0C-23B0-BBE1-F8F3-D94BD4C90425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70DAE4-A135-D099-776F-F5195B670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41" y="526967"/>
            <a:ext cx="1390844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97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0D59A-D825-F11C-0157-6D876BC0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95DB-8B16-FD6F-EC93-BCF4FE942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-851658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3716F-6DE2-2DF4-9F2E-37DE767B7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857" y="1950347"/>
            <a:ext cx="11209103" cy="4380686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clinical and demographic factors most strongly associated with early health risk using Pearson correlation analysis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compute descriptive statistics (mean, median, standard deviation, range) for every clinical and lifestyle indicator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analytical visualizations (histograms, correlation charts) illustrating indicator distributions and their relationship with health risk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clear, transparent statistical risk score describing an individual’s relative risk position against the study population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C93C1-9857-3A70-E32F-AE6D53A94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0" y="526967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2AA01AA-66B0-F581-65B9-735862AA9AA0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3F9CD1-0E6E-236E-F9D9-86C775B69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41" y="526967"/>
            <a:ext cx="1390844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59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EF4CF-59DC-322A-568A-7D51F6C9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2B30-D57A-EFAF-4D70-226053E49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8237" y="406587"/>
            <a:ext cx="7816645" cy="92145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5FBF1-4DFE-AFC8-C1F1-44D6AB315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857" y="1950347"/>
            <a:ext cx="10761407" cy="4380686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13456-FD07-AB42-7223-8DB9BD940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57" y="376212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B5F508-9C00-4402-7A02-D27E4DEF5072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CE205A-7E1B-0A4D-A5F7-AB24F6024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5299" y="338521"/>
            <a:ext cx="1390844" cy="114316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371A64-FE5D-90E2-8237-3DA39FB31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828833"/>
              </p:ext>
            </p:extLst>
          </p:nvPr>
        </p:nvGraphicFramePr>
        <p:xfrm>
          <a:off x="251706" y="1481681"/>
          <a:ext cx="11619762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62">
                  <a:extLst>
                    <a:ext uri="{9D8B030D-6E8A-4147-A177-3AD203B41FA5}">
                      <a16:colId xmlns:a16="http://schemas.microsoft.com/office/drawing/2014/main" val="2471459981"/>
                    </a:ext>
                  </a:extLst>
                </a:gridCol>
                <a:gridCol w="3327892">
                  <a:extLst>
                    <a:ext uri="{9D8B030D-6E8A-4147-A177-3AD203B41FA5}">
                      <a16:colId xmlns:a16="http://schemas.microsoft.com/office/drawing/2014/main" val="2909588718"/>
                    </a:ext>
                  </a:extLst>
                </a:gridCol>
                <a:gridCol w="1936627">
                  <a:extLst>
                    <a:ext uri="{9D8B030D-6E8A-4147-A177-3AD203B41FA5}">
                      <a16:colId xmlns:a16="http://schemas.microsoft.com/office/drawing/2014/main" val="3126007387"/>
                    </a:ext>
                  </a:extLst>
                </a:gridCol>
                <a:gridCol w="1936627">
                  <a:extLst>
                    <a:ext uri="{9D8B030D-6E8A-4147-A177-3AD203B41FA5}">
                      <a16:colId xmlns:a16="http://schemas.microsoft.com/office/drawing/2014/main" val="1702471576"/>
                    </a:ext>
                  </a:extLst>
                </a:gridCol>
                <a:gridCol w="1936627">
                  <a:extLst>
                    <a:ext uri="{9D8B030D-6E8A-4147-A177-3AD203B41FA5}">
                      <a16:colId xmlns:a16="http://schemas.microsoft.com/office/drawing/2014/main" val="4149612508"/>
                    </a:ext>
                  </a:extLst>
                </a:gridCol>
                <a:gridCol w="1936627">
                  <a:extLst>
                    <a:ext uri="{9D8B030D-6E8A-4147-A177-3AD203B41FA5}">
                      <a16:colId xmlns:a16="http://schemas.microsoft.com/office/drawing/2014/main" val="1662986554"/>
                    </a:ext>
                  </a:extLst>
                </a:gridCol>
              </a:tblGrid>
              <a:tr h="330202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	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309254"/>
                  </a:ext>
                </a:extLst>
              </a:tr>
              <a:tr h="78147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Framingham Study Insights: Statistical Foundations of Cardiovascular Risk Assessment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Kannel &amp; McGee (2023)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Well-established statistical basis; large longitudinal dataset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Older population sample; limited to specific risk factors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Statistical Analysis, Python, Epidemiology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136480"/>
                  </a:ext>
                </a:extLst>
              </a:tr>
              <a:tr h="924567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Predictive Analytics for Chronic Disease Risk Assessment Using Clinical Data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Sharma &amp; Iyer (2024)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Identifies key risk indicators effectively; interpretable results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Requires clean, complete clinical data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Statistical Regression, Python, Pandas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941163"/>
                  </a:ext>
                </a:extLst>
              </a:tr>
              <a:tr h="78147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Mining Approaches for Early Detection of Cardiovascular Risk Factors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Menon et al. (2024)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Surfaces non-obvious risk patterns across large datasets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Computationally intensive on very large datasets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Mining, Decision Trees, Python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126411"/>
                  </a:ext>
                </a:extLst>
              </a:tr>
              <a:tr h="78147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Data-Driven Framework for Lifestyle-Based Health Risk Scoring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Nair &amp; Das (2025)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Combines lifestyle and clinical factors; transparent scoring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Sensitive to self-reported lifestyle data accuracy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Analytics, Correlation Analysis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652849"/>
                  </a:ext>
                </a:extLst>
              </a:tr>
              <a:tr h="78147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Statistical Modeling for Early Diabetes Risk Prediction Using Health Records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Krishnan et al. (2025)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Strong statistical grounding; explainable risk factors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Domain-specific; needs adaptation for other conditions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Logistic Regression, Statistical Modeling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349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430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BFB7C-0D5F-2DDF-9135-D33DD099A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A6EA-6892-5514-40FE-D45A4448A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-851658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FA489-DF0C-B86E-F6A8-702D47993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856" y="1818968"/>
            <a:ext cx="5963267" cy="4739147"/>
          </a:xfrm>
        </p:spPr>
        <p:txBody>
          <a:bodyPr>
            <a:noAutofit/>
          </a:bodyPr>
          <a:lstStyle/>
          <a:p>
            <a:pPr algn="l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Frameworks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Pandas, NumPy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(statistics module)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FastAPI, Chart.js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Framingham Heart Study dataset</a:t>
            </a:r>
          </a:p>
          <a:p>
            <a:pPr algn="l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algn="l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data is collected from: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health dataset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records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surveys</a:t>
            </a:r>
          </a:p>
          <a:p>
            <a:pPr algn="l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8ACE1-C6E4-3FB9-7881-1D3066441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0" y="526967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8E2CC3-7B92-67C1-4A45-76D8EF689857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541946-34EF-FCB0-C545-CA876AB38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41" y="526967"/>
            <a:ext cx="1390844" cy="11431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4FE33E-D2E1-5044-F9DC-1A49E53B4146}"/>
              </a:ext>
            </a:extLst>
          </p:cNvPr>
          <p:cNvSpPr txBox="1"/>
          <p:nvPr/>
        </p:nvSpPr>
        <p:spPr>
          <a:xfrm>
            <a:off x="7014719" y="1787673"/>
            <a:ext cx="5220929" cy="4532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Techniques Used in Project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 Analysis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Testing (p-value)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Percentile-Based Risk Scoring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/ Mode Imputation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Encoding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Outcome-Group Comparison (t-test)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03D7C9-D89E-5C81-CC62-09C74FB7FF12}"/>
              </a:ext>
            </a:extLst>
          </p:cNvPr>
          <p:cNvCxnSpPr/>
          <p:nvPr/>
        </p:nvCxnSpPr>
        <p:spPr>
          <a:xfrm>
            <a:off x="6059419" y="2127594"/>
            <a:ext cx="0" cy="178701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2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858BE-44A8-2550-AB37-2616CE01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202F0-4F3D-9815-7731-A039A3B57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2323" y="-1265238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43027-EC9B-844A-B0D4-28FB2B5E5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" y="294430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68494E-3410-E749-27E4-5933A5D49237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E50A1B-787E-529A-B531-1612271F4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1393" y="342061"/>
            <a:ext cx="1390844" cy="1143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37505D-D88B-9E97-956A-BCB401375E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714" b="2344"/>
          <a:stretch>
            <a:fillRect/>
          </a:stretch>
        </p:blipFill>
        <p:spPr>
          <a:xfrm>
            <a:off x="1237237" y="1149884"/>
            <a:ext cx="9648700" cy="552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61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CD91D-6053-887A-CFC8-1DF5F7C4C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7578-1DE4-45BC-6026-E7E09C3D6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5664" y="953300"/>
            <a:ext cx="7511845" cy="764458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Module-1 Data Ingestion &amp; Schema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D85DE-5C64-FC5F-36AA-EDCC6BEF0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858" y="1950346"/>
            <a:ext cx="11243187" cy="4750337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ingests the uploaded health dataset and automatically detects its schema, including the binary outcome column.</a:t>
            </a:r>
          </a:p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Outcome-column detection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field encoding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Identifier-column filtering</a:t>
            </a:r>
          </a:p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Validated, analysis-ready dataset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feature set</a:t>
            </a:r>
          </a:p>
          <a:p>
            <a:pPr algn="l"/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26388-034B-9111-8152-8618FDD94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38" y="458436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0B6989-BE84-2BC3-1834-6431ABBA2F06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9D8239-123E-F904-4349-FC804503B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201" y="540084"/>
            <a:ext cx="1390844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91E0DC-8B78-A365-A347-51C5AB950FB6}"/>
              </a:ext>
            </a:extLst>
          </p:cNvPr>
          <p:cNvSpPr txBox="1"/>
          <p:nvPr/>
        </p:nvSpPr>
        <p:spPr>
          <a:xfrm>
            <a:off x="6808837" y="3246298"/>
            <a:ext cx="4424517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 / Techniques Used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Name-based &amp; structural target detection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(factorization)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Uniqueness-based Identifier Filtering</a:t>
            </a:r>
          </a:p>
        </p:txBody>
      </p:sp>
    </p:spTree>
    <p:extLst>
      <p:ext uri="{BB962C8B-B14F-4D97-AF65-F5344CB8AC3E}">
        <p14:creationId xmlns:p14="http://schemas.microsoft.com/office/powerpoint/2010/main" val="150387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5ED36-09E2-5C42-CA7C-1A01D9EF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9889-EBCA-8D42-3DAE-0AF3CC024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0767"/>
            <a:ext cx="9144000" cy="1295560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Module-2 Data Cleaning &amp;Preprocessing</a:t>
            </a:r>
            <a:b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430C3-33CB-45BD-9D91-125A1736B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321" y="1887378"/>
            <a:ext cx="11371007" cy="5187873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cleans the ingested dataset to make it suitable for statistical analysis.</a:t>
            </a:r>
          </a:p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Missing-value imputation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Feature-type classification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validation</a:t>
            </a:r>
          </a:p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Structured, cleaned dataset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Feature-type map (numeric / binary)</a:t>
            </a:r>
          </a:p>
          <a:p>
            <a:pPr algn="l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C287B1-7A2F-0D25-127E-E330B90C3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93" y="479336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F8C66E-8624-7729-B041-30C0F11B0B07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8CB729-CAC4-41A0-2E47-8A680B164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3830" y="598471"/>
            <a:ext cx="1390844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BCCB48-0D72-4DC3-46B1-7368DB08738E}"/>
              </a:ext>
            </a:extLst>
          </p:cNvPr>
          <p:cNvSpPr txBox="1"/>
          <p:nvPr/>
        </p:nvSpPr>
        <p:spPr>
          <a:xfrm>
            <a:off x="6164825" y="2965687"/>
            <a:ext cx="609600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 (numeric fields)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 Imputation (categorical fields)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Feature-Type Classification (binary vs numeric)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Validation &amp; Consistency Checks</a:t>
            </a:r>
          </a:p>
        </p:txBody>
      </p:sp>
    </p:spTree>
    <p:extLst>
      <p:ext uri="{BB962C8B-B14F-4D97-AF65-F5344CB8AC3E}">
        <p14:creationId xmlns:p14="http://schemas.microsoft.com/office/powerpoint/2010/main" val="130043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39487-47AF-74B4-61C9-A43C448C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F612F-E111-9EEB-53C6-308439B55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7867" y="682699"/>
            <a:ext cx="8727440" cy="1005335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Module-3 Statistical Correlation &amp; Risk Scoring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E5461-8A82-40A7-662D-10DA364C0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517" y="2278198"/>
            <a:ext cx="6297562" cy="4052836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applies Pearson correlation and statistical significance testing to compute a transparent health-risk score.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computation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significance testing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Risk-score calculation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coefficients &amp; p-values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risk percentile</a:t>
            </a:r>
          </a:p>
          <a:p>
            <a:pPr algn="l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E7EB4-77EC-CB6A-9A02-DE076ED45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6" y="479336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23DC66-734C-D62F-7E9D-D4E2C9C11C01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1E8047-B162-AF52-36DB-EA0182721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450" y="682699"/>
            <a:ext cx="1390844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B0C8EE-DAC4-E16D-D3F1-A2D2422F40DD}"/>
              </a:ext>
            </a:extLst>
          </p:cNvPr>
          <p:cNvSpPr txBox="1"/>
          <p:nvPr/>
        </p:nvSpPr>
        <p:spPr>
          <a:xfrm>
            <a:off x="6912079" y="3218753"/>
            <a:ext cx="609600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 Coefficient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Significance Testing (p-value)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Correlation-Weighted Z-score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Percentile Ranking Against Study Population</a:t>
            </a:r>
          </a:p>
        </p:txBody>
      </p:sp>
    </p:spTree>
    <p:extLst>
      <p:ext uri="{BB962C8B-B14F-4D97-AF65-F5344CB8AC3E}">
        <p14:creationId xmlns:p14="http://schemas.microsoft.com/office/powerpoint/2010/main" val="2686212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9D8FE-0108-67BD-8502-5520A48E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CC4F09C-0E7B-40EE-0FE4-BFDBD183F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925" y="348854"/>
            <a:ext cx="1390844" cy="1143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F5342D-D5BA-AA44-8F1A-9F8CD09DF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812" y="116397"/>
            <a:ext cx="9532375" cy="1190791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Module-4 Visualization &amp; Reporting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4DEF7-1BD0-B82B-8EAD-0F0706C87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865" y="1935009"/>
            <a:ext cx="5235678" cy="5140242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an interactive dashboard to visualize statistical results and risk-score insights.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data visualization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Outcome-group comparison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Risk-score reporting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and dashboards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risk-score breakdown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2300E-5CFE-948E-3327-1C7933832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03" y="328216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602A05-9DEE-42EA-24D7-67EDEDF13CC0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2053E7-AC39-8F51-8966-FAADB8EDD9B0}"/>
              </a:ext>
            </a:extLst>
          </p:cNvPr>
          <p:cNvSpPr txBox="1"/>
          <p:nvPr/>
        </p:nvSpPr>
        <p:spPr>
          <a:xfrm>
            <a:off x="7113041" y="3143219"/>
            <a:ext cx="609600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 / Techniques Used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(Chart.js)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Outcome-Group Comparison Plotting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Chart Rendering</a:t>
            </a:r>
          </a:p>
        </p:txBody>
      </p:sp>
    </p:spTree>
    <p:extLst>
      <p:ext uri="{BB962C8B-B14F-4D97-AF65-F5344CB8AC3E}">
        <p14:creationId xmlns:p14="http://schemas.microsoft.com/office/powerpoint/2010/main" val="1379587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A078-1488-BCFF-BA04-98A693158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2EF9-8CDC-434B-4C3B-0F790F7B6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8040" y="-1041400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95F58-2C84-A7A7-9D36-72A6E6F67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0" y="526967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2B99B6-7B2F-100D-807F-FDB50B47A0ED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E3796A-DBE7-991B-4BAA-C72C21646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41" y="526967"/>
            <a:ext cx="1390844" cy="1143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F18EAE-519D-3715-55D7-A9B924824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57" y="1798873"/>
            <a:ext cx="5513097" cy="380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64BEB2-F49D-7416-858A-AD8F9D96F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040" y="1790699"/>
            <a:ext cx="5209577" cy="380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49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EFA5-9D87-D3D7-49F9-06E969C0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E0A0-ADF8-391C-1EA5-CA5044970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8040" y="-1041400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DA7117-C84F-8946-8275-4A12A8B2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0" y="526967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223A68-83C1-72C7-7F8D-2447401F74FB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127C93-13D2-1BEE-9A45-A80CC703F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41" y="526967"/>
            <a:ext cx="1390844" cy="1143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D03A73-85E9-9053-47D3-C3D7B12AB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20" y="1912337"/>
            <a:ext cx="5364395" cy="39716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11474C-2708-0CC9-95B4-5AFFF058E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586" y="1912336"/>
            <a:ext cx="5329053" cy="397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16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742B-9634-19C5-186B-654CD85A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648AB-6156-597C-01D3-F01AFF653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-851658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B7DEBE-224A-CFA5-0B45-45F0B1BDE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858" y="1930428"/>
            <a:ext cx="11120284" cy="4380686"/>
          </a:xfrm>
        </p:spPr>
        <p:txBody>
          <a:bodyPr>
            <a:norm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Health Risk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Identifies possible health risks before serious symptoms appear.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Healthcare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people take preventive actions based on risk factors.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Tracks changes in clinical and lifestyle indicators over time.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Improvement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identify unhealthy habits such as poor diet, lack of exercise, or inadequate sleep.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Decision Support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useful information to doctors and healthcare professionals.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Awareness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individuals understand factors that may affect their health.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7813E-583A-70FE-D693-FC3A87C2D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0" y="526967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9C42C4-84F3-AC07-837F-28DF025DCBC5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B06EE1-C6E9-65F5-4990-66B2EF12B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41" y="526967"/>
            <a:ext cx="1390844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62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65E6-C9C1-DB67-4AFD-4F1E5BCD0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296B-2CB8-362E-72ED-B7A467E93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-851658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56F0B-533D-21B2-F832-E9E9E1F3E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858" y="2087409"/>
            <a:ext cx="11120284" cy="4380686"/>
          </a:xfrm>
        </p:spPr>
        <p:txBody>
          <a:bodyPr>
            <a:normAutofit fontScale="92500" lnSpcReduction="20000"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clinical and lifestyle indicators to understand early health risks.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helps identify important patterns, trends, and relationships in the data.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such as BMI, blood pressure, blood sugar, physical activity, sleep, and diet can provide useful health insights.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identify major risk factors at an early stage.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can support preventive measures and healthier lifestyle choices.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exploratory statistical analysis can support early health risk assessment.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0C223-F2DF-CF0F-7FCB-9EC297210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0" y="526967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A0FBD5-B9E3-B157-78C2-B0C92101B0AA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F62EC7-E21A-06D0-EABC-F5A82F2B5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41" y="526967"/>
            <a:ext cx="1390844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70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1656-DD66-2B33-813E-2B5BBEB3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217B9-508B-E098-3BEB-19910BC2B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-851658"/>
            <a:ext cx="8932713" cy="2819606"/>
          </a:xfrm>
        </p:spPr>
        <p:txBody>
          <a:bodyPr>
            <a:normAutofit fontScale="90000"/>
          </a:bodyPr>
          <a:lstStyle/>
          <a:p>
            <a:b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dirty="0"/>
            </a:b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A5F2C-1AC4-8E08-E1F0-B416154B1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858" y="2087409"/>
            <a:ext cx="11120284" cy="4380686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Lloyd-Jones, D. M., Larson, M. G., Beiser, A., &amp; Levy, D. (2002). Lifetime risk of developing coronary heart disease.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Lancet, 360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(9335), 89–92.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D'Agostino, R. B., Grundy, S., Sullivan, L. M., &amp; Wilson, P. (2001). Validation of the Framingham coronary heart disease prediction scores: Results of a multiple ethnic groups investigation.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JAMA, 286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180–187.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World Health Organization. (2021).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(CVDs): Key facts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World Health Organization.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Harris, C. R., Millman, K. J., van der Walt, S. J., et al. (2020). Array programming with NumPy.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Nature, 585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357–362.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McKinney, W. (2010). Data structures for statistical computing in Python.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9th Python in Science Conference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56–61.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EE910F-99F6-1C18-F424-605D9EEE3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0" y="526967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081195-2217-25B5-D09A-1ADA17EBED86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FE27CC-B3D4-E975-1D33-6C300DECB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41" y="526967"/>
            <a:ext cx="1390844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55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EE32-B155-CDB8-62F8-3AFB9DFBB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E1CCA-EDC7-1B15-450D-3DBA613DE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-851658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5ECF8-92F0-D3F7-D07F-EE27020E3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858" y="2087409"/>
            <a:ext cx="11120284" cy="4380686"/>
          </a:xfrm>
        </p:spPr>
        <p:txBody>
          <a:bodyPr>
            <a:norm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be added to predict health risks more accurately.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devices can provide continuous health data such as heart rate and activity.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suggest suitable diet, exercise, and lifestyle changes.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 app can allow users to monitor their health indicators easily.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diverse and larger datasets can improve the reliability of the analysis.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to identify risks for diseases such as diabetes and heart disease.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connected with electronic health records for better monitoring.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8FBE8-78BF-C675-E6D8-A14EDB827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0" y="526967"/>
            <a:ext cx="1124107" cy="1190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072926-CF4F-80CB-40B4-8A77F3BDCE5B}"/>
              </a:ext>
            </a:extLst>
          </p:cNvPr>
          <p:cNvSpPr/>
          <p:nvPr/>
        </p:nvSpPr>
        <p:spPr>
          <a:xfrm>
            <a:off x="137652" y="157316"/>
            <a:ext cx="11847871" cy="6548284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BA131A-D6EA-E6AD-9B5F-C11D437EC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41" y="526967"/>
            <a:ext cx="1390844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02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F8A49-DB07-5A3E-1B29-1F90026D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E28F5-1841-CDA7-F733-DAE64D8F9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C23F1-510B-2114-B988-D6D4E11A1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7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1315</Words>
  <Application>Microsoft Office PowerPoint</Application>
  <PresentationFormat>Widescreen</PresentationFormat>
  <Paragraphs>174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Exploratory Statistical Analysis of Clinical and Lifestyle Indicators for Early Health Risk  DSA0405 – Fundamentals of Data Sciences</vt:lpstr>
      <vt:lpstr>Introduction</vt:lpstr>
      <vt:lpstr>Problem Statement</vt:lpstr>
      <vt:lpstr>Objectives</vt:lpstr>
      <vt:lpstr>Literature Review</vt:lpstr>
      <vt:lpstr>Methodology</vt:lpstr>
      <vt:lpstr>System Architecture</vt:lpstr>
      <vt:lpstr>Module-1 Data Ingestion &amp; Schema Detection</vt:lpstr>
      <vt:lpstr>Module-2 Data Cleaning &amp;Preprocessing </vt:lpstr>
      <vt:lpstr>Module-3 Statistical Correlation &amp; Risk Scoring</vt:lpstr>
      <vt:lpstr>Module-4 Visualization &amp; Reporting</vt:lpstr>
      <vt:lpstr>Implementation</vt:lpstr>
      <vt:lpstr>Implementation</vt:lpstr>
      <vt:lpstr>Application </vt:lpstr>
      <vt:lpstr>Conclusion</vt:lpstr>
      <vt:lpstr>   REFERENCES 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Ultra Bot 2000</dc:creator>
  <cp:lastModifiedBy>akula reddy prasad</cp:lastModifiedBy>
  <cp:revision>21</cp:revision>
  <dcterms:created xsi:type="dcterms:W3CDTF">2025-12-04T04:10:29Z</dcterms:created>
  <dcterms:modified xsi:type="dcterms:W3CDTF">2026-09-02T13:08:32Z</dcterms:modified>
</cp:coreProperties>
</file>